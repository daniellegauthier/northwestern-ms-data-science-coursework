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IBM Plex Sans"/>
      <p:regular r:id="rId20"/>
      <p:bold r:id="rId21"/>
      <p:italic r:id="rId22"/>
      <p:boldItalic r:id="rId23"/>
    </p:embeddedFont>
    <p:embeddedFont>
      <p:font typeface="Sora SemiBold"/>
      <p:regular r:id="rId24"/>
      <p:bold r:id="rId25"/>
    </p:embeddedFont>
    <p:embeddedFont>
      <p:font typeface="IBM Plex Sans Medium"/>
      <p:regular r:id="rId26"/>
      <p:bold r:id="rId27"/>
      <p:italic r:id="rId28"/>
      <p:boldItalic r:id="rId29"/>
    </p:embeddedFont>
    <p:embeddedFont>
      <p:font typeface="Sora Light"/>
      <p:regular r:id="rId30"/>
      <p:bold r:id="rId31"/>
    </p:embeddedFont>
    <p:embeddedFont>
      <p:font typeface="Sora ExtraLight"/>
      <p:regular r:id="rId32"/>
      <p:bold r:id="rId33"/>
    </p:embeddedFont>
    <p:embeddedFont>
      <p:font typeface="Sora"/>
      <p:regular r:id="rId34"/>
      <p:bold r:id="rId35"/>
    </p:embeddedFont>
    <p:embeddedFont>
      <p:font typeface="Sora Medium"/>
      <p:regular r:id="rId36"/>
      <p:bold r:id="rId37"/>
    </p:embeddedFont>
    <p:embeddedFont>
      <p:font typeface="IBM Plex Sans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italic.fntdata"/><Relationship Id="rId41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raLight-bold.fntdata"/><Relationship Id="rId30" Type="http://schemas.openxmlformats.org/officeDocument/2006/relationships/font" Target="fonts/SoraLight-regular.fntdata"/><Relationship Id="rId33" Type="http://schemas.openxmlformats.org/officeDocument/2006/relationships/font" Target="fonts/SoraExtraLight-bold.fntdata"/><Relationship Id="rId32" Type="http://schemas.openxmlformats.org/officeDocument/2006/relationships/font" Target="fonts/SoraExtraLight-regular.fntdata"/><Relationship Id="rId35" Type="http://schemas.openxmlformats.org/officeDocument/2006/relationships/font" Target="fonts/Sora-bold.fntdata"/><Relationship Id="rId34" Type="http://schemas.openxmlformats.org/officeDocument/2006/relationships/font" Target="fonts/Sora-regular.fntdata"/><Relationship Id="rId37" Type="http://schemas.openxmlformats.org/officeDocument/2006/relationships/font" Target="fonts/SoraMedium-bold.fntdata"/><Relationship Id="rId36" Type="http://schemas.openxmlformats.org/officeDocument/2006/relationships/font" Target="fonts/SoraMedium-regular.fntdata"/><Relationship Id="rId39" Type="http://schemas.openxmlformats.org/officeDocument/2006/relationships/font" Target="fonts/IBMPlexSansSemiBold-bold.fntdata"/><Relationship Id="rId38" Type="http://schemas.openxmlformats.org/officeDocument/2006/relationships/font" Target="fonts/IBMPlexSansSemiBold-regular.fntdata"/><Relationship Id="rId20" Type="http://schemas.openxmlformats.org/officeDocument/2006/relationships/font" Target="fonts/IBMPlexSans-regular.fntdata"/><Relationship Id="rId22" Type="http://schemas.openxmlformats.org/officeDocument/2006/relationships/font" Target="fonts/IBMPlexSans-italic.fntdata"/><Relationship Id="rId21" Type="http://schemas.openxmlformats.org/officeDocument/2006/relationships/font" Target="fonts/IBMPlexSans-bold.fntdata"/><Relationship Id="rId24" Type="http://schemas.openxmlformats.org/officeDocument/2006/relationships/font" Target="fonts/SoraSemiBold-regular.fntdata"/><Relationship Id="rId23" Type="http://schemas.openxmlformats.org/officeDocument/2006/relationships/font" Target="fonts/IBMPlexSans-boldItalic.fntdata"/><Relationship Id="rId26" Type="http://schemas.openxmlformats.org/officeDocument/2006/relationships/font" Target="fonts/IBMPlexSansMedium-regular.fntdata"/><Relationship Id="rId25" Type="http://schemas.openxmlformats.org/officeDocument/2006/relationships/font" Target="fonts/SoraSemiBold-bold.fntdata"/><Relationship Id="rId28" Type="http://schemas.openxmlformats.org/officeDocument/2006/relationships/font" Target="fonts/IBMPlexSansMedium-italic.fntdata"/><Relationship Id="rId27" Type="http://schemas.openxmlformats.org/officeDocument/2006/relationships/font" Target="fonts/IBMPlexSansMedium-bold.fntdata"/><Relationship Id="rId29" Type="http://schemas.openxmlformats.org/officeDocument/2006/relationships/font" Target="fonts/IBMPlexSansMedium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f6208c55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f6208c55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6208c555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f6208c555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f6208c555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f6208c555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f6208c555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f6208c555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f6208c555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f6208c555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f6208c555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f6208c555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6208c555c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f6208c555c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f6208c555c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f6208c555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f6208c555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f6208c555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f6208c555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3f6208c555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f6208c555c_0_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f6208c555c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f6208c555c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f6208c555c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f6208c555c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f6208c555c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f6208c555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f6208c555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kaggle.com/datasets/ayanzadeh93/color-classification/data?select=ColorClassificatio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daniellegauthier2028@u.northwestern.edu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Danielle Gauthier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Summer 2026 MSDS 422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Color Classification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accent1"/>
                </a:solidFill>
                <a:latin typeface="Sora"/>
                <a:ea typeface="Sora"/>
                <a:cs typeface="Sora"/>
                <a:sym typeface="Sor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 Dataset</a:t>
            </a:r>
            <a:r>
              <a:rPr lang="en" sz="1800">
                <a:solidFill>
                  <a:schemeClr val="accent1"/>
                </a:solidFill>
                <a:latin typeface="Sora"/>
                <a:ea typeface="Sora"/>
                <a:cs typeface="Sora"/>
                <a:sym typeface="Sora"/>
              </a:rPr>
              <a:t> by Aydin Ayanzadeh</a:t>
            </a:r>
            <a:endParaRPr sz="1800">
              <a:solidFill>
                <a:schemeClr val="accen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Strategy</a:t>
            </a:r>
            <a:endParaRPr/>
          </a:p>
        </p:txBody>
      </p:sp>
      <p:sp>
        <p:nvSpPr>
          <p:cNvPr id="902" name="Google Shape;902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3" name="Google Shape;903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and EDA</a:t>
            </a:r>
            <a:endParaRPr/>
          </a:p>
        </p:txBody>
      </p:sp>
      <p:sp>
        <p:nvSpPr>
          <p:cNvPr id="904" name="Google Shape;904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06" name="Google Shape;906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7" name="Google Shape;907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908" name="Google Shape;908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9" name="Google Shape;909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915" name="Google Shape;915;p5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916" name="Google Shape;916;p53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best method for accurately classifying an image’s color?</a:t>
            </a:r>
            <a:endParaRPr/>
          </a:p>
        </p:txBody>
      </p:sp>
      <p:sp>
        <p:nvSpPr>
          <p:cNvPr id="917" name="Google Shape;917;p53"/>
          <p:cNvSpPr txBox="1"/>
          <p:nvPr>
            <p:ph idx="1" type="subTitle"/>
          </p:nvPr>
        </p:nvSpPr>
        <p:spPr>
          <a:xfrm>
            <a:off x="115025" y="3062925"/>
            <a:ext cx="3759600" cy="187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Color sorts variables when labels denote sensory meaning. A meaningful color range supports the Law of Requisite Variety.</a:t>
            </a:r>
            <a:endParaRPr b="1"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Which colors are the best predictors, and how few are needed?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Dataset: 9 real color classes (black, blue, brown, green, orange, red, violet, white, yellow) extracted from image color-space statistics.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pic>
        <p:nvPicPr>
          <p:cNvPr id="918" name="Google Shape;9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8525" y="2450225"/>
            <a:ext cx="3069801" cy="23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3" name="Google Shape;923;p54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4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5" name="Google Shape;925;p54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6" name="Google Shape;926;p54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7" name="Google Shape;927;p54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9" name="Google Shape;929;p5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30" name="Google Shape;930;p5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31" name="Google Shape;931;p54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32" name="Google Shape;932;p5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33" name="Google Shape;933;p54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34" name="Google Shape;934;p5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35" name="Google Shape;935;p5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Extract: per-image color features across RGB, HSV, and CIELAB (means, stds, 8-bin hue histogram, normalized chromaticity)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936" name="Google Shape;936;p5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37" name="Google Shape;937;p54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38" name="Google Shape;938;p5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Engineer: normalize chromaticity (r+g+b=1); select top predictors by importance.</a:t>
            </a:r>
            <a:endParaRPr/>
          </a:p>
        </p:txBody>
      </p:sp>
      <p:sp>
        <p:nvSpPr>
          <p:cNvPr id="939" name="Google Shape;939;p5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&amp; correct: fit models, test collinearity (VIF), evaluate with cross-validation.</a:t>
            </a:r>
            <a:endParaRPr/>
          </a:p>
        </p:txBody>
      </p:sp>
      <p:sp>
        <p:nvSpPr>
          <p:cNvPr id="940" name="Google Shape;940;p5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Clean: drop non-color folders (mask_*, testimg); keep 9 true color classes.</a:t>
            </a:r>
            <a:endParaRPr/>
          </a:p>
        </p:txBody>
      </p:sp>
      <p:sp>
        <p:nvSpPr>
          <p:cNvPr id="941" name="Google Shape;941;p54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Identify the smallest set of color predictors that classifies reliably.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Assumption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 1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The masking assumption. Every feature depends on a background mask (keep pixels where 20 &lt; gray &lt; 235). The threshold silently defines which pixels count as "the object," so measured color is sensitive to it.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7" name="Google Shape;947;p55"/>
          <p:cNvSpPr txBox="1"/>
          <p:nvPr>
            <p:ph idx="1" type="body"/>
          </p:nvPr>
        </p:nvSpPr>
        <p:spPr>
          <a:xfrm>
            <a:off x="4631450" y="2394000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Assumption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 2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Chromaticity vs. lightness. Normalizing r+g+b=1 discards lightness. This assumes hue carries the signal — true for red/blue/green, but it collapses black, white, and grey (which differ only in L). CIELAB distance also assumes perceptual uniformity (only approximately true).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48" name="Google Shape;948;p5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949" name="Google Shape;949;p55"/>
          <p:cNvSpPr txBox="1"/>
          <p:nvPr>
            <p:ph idx="3" type="title"/>
          </p:nvPr>
        </p:nvSpPr>
        <p:spPr>
          <a:xfrm>
            <a:off x="115025" y="502775"/>
            <a:ext cx="39054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950" name="Google Shape;950;p5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951" name="Google Shape;951;p55"/>
          <p:cNvSpPr txBox="1"/>
          <p:nvPr/>
        </p:nvSpPr>
        <p:spPr>
          <a:xfrm>
            <a:off x="238925" y="1683275"/>
            <a:ext cx="37815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Class distribution is imbalanced (Brown ~40 down to Yellow/Orange ~10) → handled with class_weight='balanced'.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Inter-class ΔE (CIELAB distance) predicts confusions before modeling: Orange/Brown and Black/White/Violet sit closest.</a:t>
            </a:r>
            <a:endParaRPr sz="11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2" name="Google Shape;95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025" y="2796125"/>
            <a:ext cx="2209184" cy="18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6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8" name="Google Shape;958;p56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9" name="Google Shape;959;p56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0" name="Google Shape;960;p56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1" name="Google Shape;961;p56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2" name="Google Shape;962;p56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3" name="Google Shape;963;p5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Single-predictor logistic </a:t>
            </a:r>
            <a:r>
              <a:rPr lang="en"/>
              <a:t>(rgb_b_std alone)</a:t>
            </a:r>
            <a:endParaRPr/>
          </a:p>
        </p:txBody>
      </p:sp>
      <p:sp>
        <p:nvSpPr>
          <p:cNvPr id="964" name="Google Shape;964;p5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— shows one channel statistic can't separate color (macro-F1 near 0). Motivates multi-feature models.</a:t>
            </a:r>
            <a:endParaRPr/>
          </a:p>
        </p:txBody>
      </p:sp>
      <p:sp>
        <p:nvSpPr>
          <p:cNvPr id="965" name="Google Shape;965;p56"/>
          <p:cNvSpPr txBox="1"/>
          <p:nvPr>
            <p:ph idx="7" type="title"/>
          </p:nvPr>
        </p:nvSpPr>
        <p:spPr>
          <a:xfrm>
            <a:off x="3820750" y="2879900"/>
            <a:ext cx="3350700" cy="6105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 VIF before/after and prunes collinear predictors (raw RGB means hit VIF 86–93).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Satisfies the "correct for collinearity" requirement.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6"/>
          <p:cNvSpPr txBox="1"/>
          <p:nvPr>
            <p:ph idx="8" type="title"/>
          </p:nvPr>
        </p:nvSpPr>
        <p:spPr>
          <a:xfrm>
            <a:off x="3820750" y="3615875"/>
            <a:ext cx="3350700" cy="6834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Nearest-anchor one-hot dummies → multinomial logistic. Interpretable indicator/dummy-variable model.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5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Model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68" name="Google Shape;968;p5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Role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69" name="Google Shape;969;p5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Multilinear logistic, </a:t>
            </a:r>
            <a:r>
              <a:rPr lang="en"/>
              <a:t>collinearity-corrected, top 3 predictors</a:t>
            </a:r>
            <a:endParaRPr/>
          </a:p>
        </p:txBody>
      </p:sp>
      <p:sp>
        <p:nvSpPr>
          <p:cNvPr id="970" name="Google Shape;970;p5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Indicator model</a:t>
            </a:r>
            <a:r>
              <a:rPr lang="en"/>
              <a:t> (16 standard-color anchors)</a:t>
            </a:r>
            <a:endParaRPr/>
          </a:p>
        </p:txBody>
      </p:sp>
      <p:sp>
        <p:nvSpPr>
          <p:cNvPr id="971" name="Google Shape;971;p56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972" name="Google Shape;972;p5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973" name="Google Shape;973;p56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Strategy</a:t>
            </a:r>
            <a:endParaRPr/>
          </a:p>
        </p:txBody>
      </p:sp>
      <p:sp>
        <p:nvSpPr>
          <p:cNvPr id="974" name="Google Shape;974;p5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975" name="Google Shape;975;p5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976" name="Google Shape;976;p5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977" name="Google Shape;977;p56"/>
          <p:cNvSpPr txBox="1"/>
          <p:nvPr/>
        </p:nvSpPr>
        <p:spPr>
          <a:xfrm>
            <a:off x="4756625" y="361175"/>
            <a:ext cx="37140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Top predictors:</a:t>
            </a:r>
            <a:r>
              <a:rPr lang="en"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lab_b_mean, lab_a_mean, hue_bin_6 (hue_bin_6 = the violet/magenta band, 270°–315°).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7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3" name="Google Shape;983;p57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4" name="Google Shape;984;p57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5" name="Google Shape;985;p57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6" name="Google Shape;986;p57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7" name="Google Shape;987;p57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8" name="Google Shape;988;p57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Random Forest </a:t>
            </a:r>
            <a:r>
              <a:rPr lang="en"/>
              <a:t>(normalized RGB predictors)</a:t>
            </a:r>
            <a:endParaRPr/>
          </a:p>
        </p:txBody>
      </p:sp>
      <p:sp>
        <p:nvSpPr>
          <p:cNvPr id="989" name="Google Shape;989;p57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model with many predictors</a:t>
            </a:r>
            <a:endParaRPr/>
          </a:p>
        </p:txBody>
      </p:sp>
      <p:sp>
        <p:nvSpPr>
          <p:cNvPr id="990" name="Google Shape;990;p57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7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7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Model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93" name="Google Shape;993;p57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Role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94" name="Google Shape;994;p57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57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57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997" name="Google Shape;997;p5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998" name="Google Shape;998;p57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Strategy</a:t>
            </a:r>
            <a:endParaRPr/>
          </a:p>
        </p:txBody>
      </p:sp>
      <p:sp>
        <p:nvSpPr>
          <p:cNvPr id="999" name="Google Shape;999;p57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000" name="Google Shape;1000;p57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57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954" y="2681425"/>
            <a:ext cx="6154070" cy="21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8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Model 2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Multilinear LogReg (3 top predictors)   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F1 = 0.702 ± 0.075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8" name="Google Shape;1008;p58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Model 4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RF (normalized predictors)                  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F1 = 0.947 ± 0.053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9" name="Google Shape;1009;p58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Model 3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Indicator Model (16 anchors)             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F1 = 0.457 ± 0.070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10" name="Google Shape;1010;p58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58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Daneille Gauthier</a:t>
            </a:r>
            <a:endParaRPr/>
          </a:p>
        </p:txBody>
      </p:sp>
      <p:sp>
        <p:nvSpPr>
          <p:cNvPr id="1012" name="Google Shape;1012;p58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Validation Evaluation</a:t>
            </a:r>
            <a:endParaRPr/>
          </a:p>
        </p:txBody>
      </p:sp>
      <p:sp>
        <p:nvSpPr>
          <p:cNvPr id="1013" name="Google Shape;1013;p58"/>
          <p:cNvSpPr txBox="1"/>
          <p:nvPr>
            <p:ph idx="7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1014" name="Google Shape;1014;p58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15" name="Google Shape;101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7600" y="2851550"/>
            <a:ext cx="4183500" cy="17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5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1021" name="Google Shape;1021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1022" name="Google Shape;1022;p59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023" name="Google Shape;1023;p59"/>
          <p:cNvSpPr txBox="1"/>
          <p:nvPr>
            <p:ph idx="4294967295" type="subTitle"/>
          </p:nvPr>
        </p:nvSpPr>
        <p:spPr>
          <a:xfrm>
            <a:off x="115025" y="3386975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C</a:t>
            </a: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hromaticity normalization (r+g+b=1) gives clean, lighting-invariant separation for hued classes.</a:t>
            </a:r>
            <a:endParaRPr sz="3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100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Main confusions are: Orange/Brown (near-identical chromaticity) and the neutral Black/White/Violet cluster (separable only by lightness).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24" name="Google Shape;1024;p59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The best predictor color range uses 9 normalized colors.</a:t>
            </a:r>
            <a:endParaRPr/>
          </a:p>
        </p:txBody>
      </p:sp>
      <p:pic>
        <p:nvPicPr>
          <p:cNvPr id="1025" name="Google Shape;102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0897" y="3935150"/>
            <a:ext cx="4283801" cy="82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175" y="2413894"/>
            <a:ext cx="4733450" cy="1281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0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Practicality</a:t>
            </a:r>
            <a:endParaRPr/>
          </a:p>
        </p:txBody>
      </p:sp>
      <p:sp>
        <p:nvSpPr>
          <p:cNvPr id="1032" name="Google Shape;1032;p60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Best use: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 pre-sorting or tagging images by dominant color where approximate labels are acceptable; not for fine shade distinctions (nude vs. brown, pink vs. red).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Model power: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the clean 9-class pipeline is lightweight (color statistics + logistic/forest), no GPU, and generalizes to new images.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Limits: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small sample (261 train / 66 test), thin per-class support, and results depend on the mask threshold — so numbers are indicative, not production-grade. Cross-validation (not a single split) is what makes them defensible.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33" name="Google Shape;1033;p6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1034" name="Google Shape;1034;p6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1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1040" name="Google Shape;1040;p61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1041" name="Google Shape;1041;p61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 Midterm</a:t>
            </a:r>
            <a:endParaRPr/>
          </a:p>
        </p:txBody>
      </p:sp>
      <p:sp>
        <p:nvSpPr>
          <p:cNvPr id="1042" name="Google Shape;1042;p61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9-class pipeline, collinearity-corrected and cross-validated.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1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7/27/26</a:t>
            </a:r>
            <a:endParaRPr/>
          </a:p>
        </p:txBody>
      </p:sp>
      <p:sp>
        <p:nvSpPr>
          <p:cNvPr id="1044" name="Google Shape;1044;p61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10 Final</a:t>
            </a:r>
            <a:endParaRPr/>
          </a:p>
        </p:txBody>
      </p:sp>
      <p:sp>
        <p:nvSpPr>
          <p:cNvPr id="1045" name="Google Shape;1045;p61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 lightness channel to separate neutrals; try UMAP for nonlinear separation; tune the mask threshold as a robustness study.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1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8/31/26</a:t>
            </a:r>
            <a:endParaRPr/>
          </a:p>
        </p:txBody>
      </p:sp>
      <p:sp>
        <p:nvSpPr>
          <p:cNvPr id="1047" name="Google Shape;1047;p61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NLP/DL Courses Complete</a:t>
            </a:r>
            <a:endParaRPr/>
          </a:p>
        </p:txBody>
      </p:sp>
      <p:sp>
        <p:nvSpPr>
          <p:cNvPr id="1048" name="Google Shape;1048;p61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 to CNN-based color/texture features for harder, multi-object images.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1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12/20/26</a:t>
            </a:r>
            <a:endParaRPr/>
          </a:p>
        </p:txBody>
      </p:sp>
      <p:sp>
        <p:nvSpPr>
          <p:cNvPr id="1050" name="Google Shape;1050;p61"/>
          <p:cNvSpPr/>
          <p:nvPr/>
        </p:nvSpPr>
        <p:spPr>
          <a:xfrm>
            <a:off x="3918675" y="1945113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We’re here!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51" name="Google Shape;1051;p61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6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00"/>
              <a:t>Vattuone, Nicolás, Thomas Wachtler, and Inés Samengo. 2021. "Perceptual Spaces and Their Symmetries: The Geometry of Color Space." Mathematical Neuroscience and Applications 1(1):1–34. doi:10.46298/mna.7108.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57" name="Google Shape;1057;p6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as a sphere (hue angle, chroma, lightness as spherical coordinates) gives a continuous state space where a color holds a probabilistic position</a:t>
            </a:r>
            <a:endParaRPr/>
          </a:p>
        </p:txBody>
      </p:sp>
      <p:sp>
        <p:nvSpPr>
          <p:cNvPr id="1058" name="Google Shape;1058;p6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 concepts to color using hue plus lightness and saturation</a:t>
            </a:r>
            <a:endParaRPr/>
          </a:p>
        </p:txBody>
      </p:sp>
      <p:sp>
        <p:nvSpPr>
          <p:cNvPr id="1059" name="Google Shape;1059;p6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  <p:sp>
        <p:nvSpPr>
          <p:cNvPr id="1060" name="Google Shape;1060;p6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</a:t>
            </a:r>
            <a:endParaRPr/>
          </a:p>
        </p:txBody>
      </p:sp>
      <p:sp>
        <p:nvSpPr>
          <p:cNvPr id="1061" name="Google Shape;1061;p6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Surov, Ilya A. 2022. "Quantum Core Affect: Color-Emotion Structure of Semantic Atom." Frontiers in Psychology 13:838029. doi:10.3389/fpsyg.2022.838029.</a:t>
            </a:r>
            <a:endParaRPr sz="600"/>
          </a:p>
        </p:txBody>
      </p:sp>
      <p:sp>
        <p:nvSpPr>
          <p:cNvPr id="1062" name="Google Shape;1062;p6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</a:t>
            </a:r>
            <a:r>
              <a:rPr lang="en" sz="600"/>
              <a:t>alvo Ivanovic, Ingrid. 2024. "Colour Meaning Matrix: A Tool for Connecting Concepts to Hue, Value and Saturation." Pp. 214–[end page] in Color and Colorimetry. Multidisciplinary Contributions. Vol. XIX A, edited by Filippo Cherubini and Andrea Siniscalco. Milan: Gruppo del Colore–Associazione Italiana Colore.</a:t>
            </a:r>
            <a:endParaRPr sz="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63" name="Google Shape;1063;p6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Meaning Matrix</a:t>
            </a:r>
            <a:endParaRPr/>
          </a:p>
        </p:txBody>
      </p:sp>
      <p:sp>
        <p:nvSpPr>
          <p:cNvPr id="1064" name="Google Shape;1064;p6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</a:t>
            </a:r>
            <a:endParaRPr/>
          </a:p>
        </p:txBody>
      </p:sp>
      <p:sp>
        <p:nvSpPr>
          <p:cNvPr id="1065" name="Google Shape;1065;p6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chromatic induction and color-matching effects to one simple distance law</a:t>
            </a:r>
            <a:endParaRPr/>
          </a:p>
        </p:txBody>
      </p:sp>
      <p:sp>
        <p:nvSpPr>
          <p:cNvPr id="1066" name="Google Shape;1066;p6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1067" name="Google Shape;1067;p62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Adds</a:t>
            </a:r>
            <a:endParaRPr/>
          </a:p>
        </p:txBody>
      </p:sp>
      <p:sp>
        <p:nvSpPr>
          <p:cNvPr id="1068" name="Google Shape;1068;p6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Sphere</a:t>
            </a:r>
            <a:endParaRPr/>
          </a:p>
        </p:txBody>
      </p:sp>
      <p:sp>
        <p:nvSpPr>
          <p:cNvPr id="1069" name="Google Shape;1069;p6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Geome-try of Color- space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3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075" name="Google Shape;1075;p63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Contact me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daniellegauthier2028@u.northwestern.edu</a:t>
            </a:r>
            <a:endParaRPr/>
          </a:p>
        </p:txBody>
      </p:sp>
      <p:sp>
        <p:nvSpPr>
          <p:cNvPr id="1076" name="Google Shape;1076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Danielle Gauthier</a:t>
            </a:r>
            <a:endParaRPr/>
          </a:p>
        </p:txBody>
      </p:sp>
      <p:sp>
        <p:nvSpPr>
          <p:cNvPr id="1077" name="Google Shape;1077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2026 MSDS 422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64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